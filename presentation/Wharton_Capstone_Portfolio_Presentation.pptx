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onstantia" panose="02030602050306030303" pitchFamily="18" charset="0"/>
      <p:regular r:id="rId12"/>
      <p:bold r:id="rId13"/>
      <p:italic r:id="rId14"/>
      <p:boldItalic r:id="rId15"/>
    </p:embeddedFont>
    <p:embeddedFont>
      <p:font typeface="Wingdings 2" panose="05020102010507070707" pitchFamily="18" charset="2"/>
      <p:regular r:id="rId16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906" y="-79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tr-T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Portfolio weight</c:v>
          </c:tx>
          <c:dPt>
            <c:idx val="0"/>
            <c:bubble3D val="0"/>
            <c:spPr>
              <a:solidFill>
                <a:srgbClr val="0E7490"/>
              </a:solidFill>
            </c:spPr>
          </c:dPt>
          <c:dPt>
            <c:idx val="1"/>
            <c:bubble3D val="0"/>
            <c:spPr>
              <a:solidFill>
                <a:srgbClr val="E07A36"/>
              </a:solidFill>
            </c:spPr>
          </c:dPt>
          <c:dLbls>
            <c:txPr>
              <a:bodyPr anchorCtr="1"/>
              <a:lstStyle/>
              <a:p>
                <a:pPr>
                  <a:defRPr sz="1125" b="1">
                    <a:solidFill>
                      <a:srgbClr val="17212B"/>
                    </a:solidFill>
                    <a:latin typeface="Aptos"/>
                    <a:ea typeface="Aptos"/>
                    <a:cs typeface="Aptos"/>
                  </a:defRPr>
                </a:pPr>
                <a:endParaRPr lang="tr-T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VBTLX</c:v>
                </c:pt>
                <c:pt idx="1">
                  <c:v>VFIAX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67.8459</c:v>
                </c:pt>
                <c:pt idx="1">
                  <c:v>32.1541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5"/>
      </c:doughnutChart>
      <c:spPr>
        <a:solidFill>
          <a:srgbClr val="FFFFFF"/>
        </a:solidFill>
        <a:ln w="0">
          <a:solidFill>
            <a:srgbClr val="FFFFFF"/>
          </a:solidFill>
        </a:ln>
      </c:spPr>
    </c:plotArea>
    <c:legend>
      <c:legendPos val="b"/>
      <c:layout/>
      <c:overlay val="0"/>
      <c:txPr>
        <a:bodyPr anchorCtr="1"/>
        <a:lstStyle/>
        <a:p>
          <a:pPr>
            <a:defRPr sz="1125">
              <a:solidFill>
                <a:srgbClr val="17212B"/>
              </a:solidFill>
              <a:latin typeface="Aptos"/>
              <a:ea typeface="Aptos"/>
              <a:cs typeface="Aptos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Mixed portfolio</c:v>
          </c:tx>
          <c:spPr>
            <a:solidFill>
              <a:srgbClr val="0E7490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'Chart Data'!$B$2:$B$8</c:f>
              <c:numCache>
                <c:formatCode>0.0\%</c:formatCode>
                <c:ptCount val="7"/>
                <c:pt idx="0">
                  <c:v>-0.6210772</c:v>
                </c:pt>
                <c:pt idx="1">
                  <c:v>0.40955190000000002</c:v>
                </c:pt>
                <c:pt idx="2">
                  <c:v>2.8245835000000001</c:v>
                </c:pt>
                <c:pt idx="3">
                  <c:v>0.39</c:v>
                </c:pt>
                <c:pt idx="4">
                  <c:v>0.58912739999999997</c:v>
                </c:pt>
                <c:pt idx="5">
                  <c:v>1.3998113000000001</c:v>
                </c:pt>
                <c:pt idx="6">
                  <c:v>1.6242688999999999</c:v>
                </c:pt>
              </c:numCache>
            </c:numRef>
          </c:val>
        </c:ser>
        <c:ser>
          <c:idx val="1"/>
          <c:order val="1"/>
          <c:tx>
            <c:v>AAPL</c:v>
          </c:tx>
          <c:spPr>
            <a:solidFill>
              <a:srgbClr val="E07A36"/>
            </a:solidFill>
          </c:spPr>
          <c:invertIfNegative val="0"/>
          <c:cat>
            <c:strRef>
              <c:f>'Chart Data'!$C$2:$C$8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'Chart Data'!$D$2:$D$8</c:f>
              <c:numCache>
                <c:formatCode>0.0\%</c:formatCode>
                <c:ptCount val="7"/>
                <c:pt idx="0">
                  <c:v>-0.1287567</c:v>
                </c:pt>
                <c:pt idx="1">
                  <c:v>12.721064500000001</c:v>
                </c:pt>
                <c:pt idx="2">
                  <c:v>-13.992111</c:v>
                </c:pt>
                <c:pt idx="3">
                  <c:v>7.1772926999999997</c:v>
                </c:pt>
                <c:pt idx="4">
                  <c:v>-4.2659753</c:v>
                </c:pt>
                <c:pt idx="5">
                  <c:v>9.0062774000000001</c:v>
                </c:pt>
                <c:pt idx="6">
                  <c:v>1.7656693000000001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142798336"/>
        <c:axId val="139226496"/>
      </c:barChart>
      <c:catAx>
        <c:axId val="14279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DE4E7"/>
            </a:solidFill>
          </a:ln>
        </c:spPr>
        <c:txPr>
          <a:bodyPr anchorCtr="1"/>
          <a:lstStyle/>
          <a:p>
            <a:pPr>
              <a:defRPr sz="975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endParaRPr lang="tr-TR"/>
          </a:p>
        </c:txPr>
        <c:crossAx val="139226496"/>
        <c:crosses val="autoZero"/>
        <c:auto val="1"/>
        <c:lblAlgn val="ctr"/>
        <c:lblOffset val="100"/>
        <c:noMultiLvlLbl val="1"/>
      </c:catAx>
      <c:valAx>
        <c:axId val="139226496"/>
        <c:scaling>
          <c:orientation val="minMax"/>
          <c:max val="16"/>
          <c:min val="-16"/>
        </c:scaling>
        <c:delete val="0"/>
        <c:axPos val="l"/>
        <c:majorGridlines>
          <c:spPr>
            <a:ln w="9525">
              <a:solidFill>
                <a:srgbClr val="DDE4E7"/>
              </a:solidFill>
            </a:ln>
          </c:spPr>
        </c:majorGridlines>
        <c:numFmt formatCode="0.0\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endParaRPr lang="tr-TR"/>
          </a:p>
        </c:txPr>
        <c:crossAx val="142798336"/>
        <c:crosses val="autoZero"/>
        <c:crossBetween val="between"/>
        <c:majorUnit val="4"/>
      </c:valAx>
      <c:spPr>
        <a:solidFill>
          <a:srgbClr val="FFFFFF"/>
        </a:solidFill>
        <a:ln w="0">
          <a:solidFill>
            <a:srgbClr val="FFFFFF"/>
          </a:solidFill>
        </a:ln>
      </c:spPr>
    </c:plotArea>
    <c:legend>
      <c:legendPos val="b"/>
      <c:layout/>
      <c:overlay val="0"/>
      <c:txPr>
        <a:bodyPr anchorCtr="1"/>
        <a:lstStyle/>
        <a:p>
          <a:pPr>
            <a:defRPr sz="1050">
              <a:solidFill>
                <a:srgbClr val="17212B"/>
              </a:solidFill>
              <a:latin typeface="Aptos"/>
              <a:ea typeface="Aptos"/>
              <a:cs typeface="Aptos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tr-T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Mixed portfolio</c:v>
          </c:tx>
          <c:spPr>
            <a:ln w="38100">
              <a:solidFill>
                <a:srgbClr val="0E7490"/>
              </a:solidFill>
            </a:ln>
          </c:spPr>
          <c:marker>
            <c:symbol val="circle"/>
            <c:size val="7"/>
            <c:spPr>
              <a:solidFill>
                <a:srgbClr val="0E7490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'Chart Data'!$B$2:$B$8</c:f>
              <c:numCache>
                <c:formatCode>\$0.0"m"</c:formatCode>
                <c:ptCount val="7"/>
                <c:pt idx="0">
                  <c:v>4.9689459999999999</c:v>
                </c:pt>
                <c:pt idx="1">
                  <c:v>4.9892969999999996</c:v>
                </c:pt>
                <c:pt idx="2">
                  <c:v>5.130223</c:v>
                </c:pt>
                <c:pt idx="3">
                  <c:v>5.1502309999999998</c:v>
                </c:pt>
                <c:pt idx="4">
                  <c:v>5.1805729999999999</c:v>
                </c:pt>
                <c:pt idx="5">
                  <c:v>5.2530910000000004</c:v>
                </c:pt>
                <c:pt idx="6">
                  <c:v>5.3384150000000004</c:v>
                </c:pt>
              </c:numCache>
            </c:numRef>
          </c:val>
          <c:smooth val="1"/>
        </c:ser>
        <c:ser>
          <c:idx val="1"/>
          <c:order val="1"/>
          <c:tx>
            <c:v>AAPL</c:v>
          </c:tx>
          <c:spPr>
            <a:ln w="38100">
              <a:solidFill>
                <a:srgbClr val="E07A36"/>
              </a:solidFill>
            </a:ln>
          </c:spPr>
          <c:marker>
            <c:symbol val="circle"/>
            <c:size val="7"/>
            <c:spPr>
              <a:solidFill>
                <a:srgbClr val="E07A36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'Chart Data'!$D$2:$D$8</c:f>
              <c:numCache>
                <c:formatCode>\$0.0"m"</c:formatCode>
                <c:ptCount val="7"/>
                <c:pt idx="0">
                  <c:v>4.9935619999999998</c:v>
                </c:pt>
                <c:pt idx="1">
                  <c:v>5.6287960000000004</c:v>
                </c:pt>
                <c:pt idx="2">
                  <c:v>4.8412090000000001</c:v>
                </c:pt>
                <c:pt idx="3">
                  <c:v>5.1886770000000002</c:v>
                </c:pt>
                <c:pt idx="4">
                  <c:v>4.9673290000000003</c:v>
                </c:pt>
                <c:pt idx="5">
                  <c:v>5.4146999999999998</c:v>
                </c:pt>
                <c:pt idx="6">
                  <c:v>5.5103059999999999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5905152"/>
        <c:axId val="139228800"/>
      </c:lineChart>
      <c:catAx>
        <c:axId val="14590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DE4E7"/>
            </a:solidFill>
          </a:ln>
        </c:spPr>
        <c:txPr>
          <a:bodyPr anchorCtr="1"/>
          <a:lstStyle/>
          <a:p>
            <a:pPr>
              <a:defRPr sz="975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endParaRPr lang="tr-TR"/>
          </a:p>
        </c:txPr>
        <c:crossAx val="139228800"/>
        <c:crosses val="autoZero"/>
        <c:auto val="1"/>
        <c:lblAlgn val="ctr"/>
        <c:lblOffset val="100"/>
        <c:noMultiLvlLbl val="1"/>
      </c:catAx>
      <c:valAx>
        <c:axId val="139228800"/>
        <c:scaling>
          <c:orientation val="minMax"/>
          <c:max val="5.8"/>
          <c:min val="4.5999999999999996"/>
        </c:scaling>
        <c:delete val="0"/>
        <c:axPos val="l"/>
        <c:majorGridlines>
          <c:spPr>
            <a:ln w="9525">
              <a:solidFill>
                <a:srgbClr val="DDE4E7"/>
              </a:solidFill>
            </a:ln>
          </c:spPr>
        </c:majorGridlines>
        <c:numFmt formatCode="\$0.0&quot;m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endParaRPr lang="tr-TR"/>
          </a:p>
        </c:txPr>
        <c:crossAx val="145905152"/>
        <c:crosses val="autoZero"/>
        <c:crossBetween val="between"/>
        <c:majorUnit val="0.2"/>
      </c:valAx>
      <c:spPr>
        <a:solidFill>
          <a:srgbClr val="FFFFFF"/>
        </a:solidFill>
        <a:ln w="0">
          <a:solidFill>
            <a:srgbClr val="FFFFFF"/>
          </a:solidFill>
        </a:ln>
      </c:spPr>
    </c:plotArea>
    <c:legend>
      <c:legendPos val="b"/>
      <c:layout/>
      <c:overlay val="0"/>
      <c:txPr>
        <a:bodyPr anchorCtr="1"/>
        <a:lstStyle/>
        <a:p>
          <a:pPr>
            <a:defRPr sz="1050">
              <a:solidFill>
                <a:srgbClr val="17212B"/>
              </a:solidFill>
              <a:latin typeface="Aptos"/>
              <a:ea typeface="Aptos"/>
              <a:cs typeface="Aptos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6463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compare a diversified VBTLX/VFIAX allocation with a single-security AAPL portfolio. Source: course-provided VBTLX and VFIAX monthly returns and AAPL adjusted-close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Method: maximize portfolio Sharpe ratio using monthly VBTLX and VFIAX returns from January 2012 through December 2015, subject to weights summing to 100%, with a zero risk-free rate. Result: 67.8459% VBTLX and 32.1541% VFIAX.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monthly return chart is an original, editable chart based on the course data. AAPL's largest gain was 12.72% in February and its largest loss was -13.99% in March. The mixed portfolio ranged from -0.62% to 2.82%.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Ending values: mixed portfolio $5,338,415; AAPL $5,510,306. Volatility is the sample standard deviation of January–July monthly returns. Diversification reduced volatility substantially, although AAPL earned the higher cumulative return in this short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Recommendation: use the mixed portfolio as the strategic baseline for clients focused on downside control and consistency. AAPL may be appropriate only as a smaller satellite position for clients able to tolerate material short-term losses. Historical performance is not a guarantee of future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50D65-C64D-44FB-9152-4CC2DE0C9198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64A4-35FB-42B6-9183-2C0CE0E36649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83B9-6ECA-47FA-93CF-B124A0FAC208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F66B-9476-4BB3-85E9-E01854F07F90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3FBD-8F7D-4F85-8085-67BFDB05CB71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789A-1220-4441-8676-44A034051BFD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A266-E364-4B5E-98DD-432668182E1E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F2040-9975-4642-A906-1DF87F8BE202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2B4A-BA08-4841-AB08-A0D822ABC34D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5EB0-D091-417E-ACD5-D65E1C7D8524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A09F9-C7D6-4C52-A7E8-5101239A0BA2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xmlns="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xmlns="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xmlns="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xmlns="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xmlns="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5D48070-6A81-47D0-9810-1540B9FEFF61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tr-TR" sz="100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574A810-7A8E-054F-9F6B-09E9C694ECF9}" type="slidenum">
              <a:rPr lang="tr-TR" smtClean="0"/>
              <a:t>‹#›</a:t>
            </a:fld>
            <a:endParaRPr lang="tr-TR" sz="1000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kdörtgen 9">
            <a:extLst>
              <a:ext uri="{FF2B5EF4-FFF2-40B4-BE49-F238E27FC236}">
                <a16:creationId xmlns:a16="http://schemas.microsoft.com/office/drawing/2014/main" xmlns="" id="{2F1AFC63-D3EC-4BBD-AFA5-1E426CA381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7490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xmlns="" id="{1D8F8DC0-B2CF-46D6-A1EF-66A657EA3DF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PORTFOLIO ANALYSIS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xmlns="" id="{EB696C99-1236-4FF4-A8A1-AE637BAE3D16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715500" cy="1352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6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3675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Portfolio Performance</a:t>
            </a:r>
          </a:p>
          <a:p>
            <a:pPr algn="l">
              <a:defRPr sz="36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3675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and Diversification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xmlns="" id="{94EA8781-3B58-4197-99FD-A32AEE4A5686}"/>
              </a:ext>
            </a:extLst>
          </p:cNvPr>
          <p:cNvSpPr>
            <a:spLocks noGrp="1"/>
          </p:cNvSpPr>
          <p:nvPr/>
        </p:nvSpPr>
        <p:spPr>
          <a:xfrm>
            <a:off x="714375" y="30670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153A5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A5B"/>
                </a:solidFill>
                <a:latin typeface="Aptos"/>
                <a:ea typeface="Aptos"/>
                <a:cs typeface="Aptos"/>
              </a:rPr>
              <a:t>VBTLX + VFIAX compared with AAPL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xmlns="" id="{9E550CB7-EAFC-4B9E-934A-6AF4F1FF965B}"/>
              </a:ext>
            </a:extLst>
          </p:cNvPr>
          <p:cNvSpPr>
            <a:spLocks noGrp="1"/>
          </p:cNvSpPr>
          <p:nvPr/>
        </p:nvSpPr>
        <p:spPr>
          <a:xfrm>
            <a:off x="714375" y="3590925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January–July 2016  |  Hypothetical $5 million investment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xmlns="" id="{73887911-9AA1-49FD-9A0B-78C212666256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3333750" cy="28575"/>
          </a:xfrm>
          <a:prstGeom prst="rect">
            <a:avLst/>
          </a:prstGeom>
          <a:solidFill>
            <a:srgbClr val="E07A36"/>
          </a:solidFill>
          <a:ln w="9525">
            <a:solidFill>
              <a:srgbClr val="E07A36"/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xmlns="" id="{64D8400A-27C7-48A5-B280-817F51873510}"/>
              </a:ext>
            </a:extLst>
          </p:cNvPr>
          <p:cNvSpPr>
            <a:spLocks noGrp="1"/>
          </p:cNvSpPr>
          <p:nvPr/>
        </p:nvSpPr>
        <p:spPr>
          <a:xfrm>
            <a:off x="714375" y="476250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E07A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07A36"/>
                </a:solidFill>
                <a:latin typeface="Aptos"/>
                <a:ea typeface="Aptos"/>
                <a:cs typeface="Aptos"/>
              </a:rPr>
              <a:t>Client takeaway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xmlns="" id="{2B7B7B9D-F7E9-4DFD-8429-5C0C3134515C}"/>
              </a:ext>
            </a:extLst>
          </p:cNvPr>
          <p:cNvSpPr>
            <a:spLocks noGrp="1"/>
          </p:cNvSpPr>
          <p:nvPr/>
        </p:nvSpPr>
        <p:spPr>
          <a:xfrm>
            <a:off x="714375" y="5057775"/>
            <a:ext cx="8191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AAPL delivered more return in this short window; the mixed portfolio delivered a much smoother ride.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xmlns="" id="{D1657171-4C4B-457D-90D3-30A0D0F3F0A1}"/>
              </a:ext>
            </a:extLst>
          </p:cNvPr>
          <p:cNvSpPr>
            <a:spLocks noGrp="1"/>
          </p:cNvSpPr>
          <p:nvPr/>
        </p:nvSpPr>
        <p:spPr>
          <a:xfrm>
            <a:off x="714375" y="625792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87" lnSpcReduction="10000"/>
          </a:bodyPr>
          <a:lstStyle/>
          <a:p>
            <a:pPr algn="l">
              <a:defRPr sz="9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endParaRPr sz="975" b="1" i="1" dirty="0">
              <a:solidFill>
                <a:srgbClr val="64707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Metin kutusu 10"/>
          <p:cNvSpPr txBox="1"/>
          <p:nvPr/>
        </p:nvSpPr>
        <p:spPr>
          <a:xfrm>
            <a:off x="7604760" y="5534561"/>
            <a:ext cx="4587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Prepared by </a:t>
            </a:r>
            <a:r>
              <a:rPr lang="en-US" sz="1600" b="1" dirty="0" err="1" smtClean="0"/>
              <a:t>Yavuz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Kaan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Aksoy</a:t>
            </a:r>
            <a:r>
              <a:rPr lang="en-US" sz="1600" dirty="0" smtClean="0"/>
              <a:t/>
            </a:r>
            <a:br>
              <a:rPr lang="en-US" sz="1600" dirty="0" smtClean="0"/>
            </a:br>
            <a:endParaRPr lang="tr-TR" sz="1600" dirty="0" smtClean="0"/>
          </a:p>
          <a:p>
            <a:r>
              <a:rPr lang="en-US" sz="1600" b="1" dirty="0" smtClean="0"/>
              <a:t>Business and Financial Modeling Capstone</a:t>
            </a:r>
            <a:r>
              <a:rPr lang="en-US" sz="1600" dirty="0" smtClean="0"/>
              <a:t/>
            </a:r>
            <a:br>
              <a:rPr lang="en-US" sz="1600" dirty="0" smtClean="0"/>
            </a:br>
            <a:endParaRPr lang="tr-TR" sz="1600" dirty="0" smtClean="0"/>
          </a:p>
          <a:p>
            <a:r>
              <a:rPr lang="en-US" sz="1600" b="1" dirty="0" smtClean="0"/>
              <a:t>September 2026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201320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 19">
            <a:extLst>
              <a:ext uri="{FF2B5EF4-FFF2-40B4-BE49-F238E27FC236}">
                <a16:creationId xmlns:a16="http://schemas.microsoft.com/office/drawing/2014/main" xmlns="" id="{B00B4BE3-10FE-465D-864E-E2975AE08D0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1 · PORTFOLIO CONSTRUCTION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xmlns="" id="{20F4413A-7587-4B9F-9E60-020477ED8F6C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 bond-led allocation maximizes the historical Sharpe ratio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xmlns="" id="{2C1C7036-D5A7-4758-AE97-06CA086F2363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Estimation period: January 2012–December 2015; risk-free rate assumed to be 0%.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xmlns="" id="{77BA4725-5716-4694-98E1-B8E75BA886AB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DE4E7"/>
          </a:solidFill>
          <a:ln w="9525">
            <a:solidFill>
              <a:srgbClr val="DDE4E7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="666750" y="1952625"/>
          <a:ext cx="4953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Yuvarlatılmış Dikdörtgen 5">
            <a:extLst>
              <a:ext uri="{FF2B5EF4-FFF2-40B4-BE49-F238E27FC236}">
                <a16:creationId xmlns:a16="http://schemas.microsoft.com/office/drawing/2014/main" xmlns="" id="{64975E15-7C9A-44C1-828E-952568CDF2C7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4762500" cy="1200150"/>
          </a:xfrm>
          <a:prstGeom prst="roundRect">
            <a:avLst>
              <a:gd name="adj" fmla="val 6349"/>
            </a:avLst>
          </a:prstGeom>
          <a:solidFill>
            <a:srgbClr val="F4F7F8"/>
          </a:solidFill>
          <a:ln w="9525">
            <a:solidFill>
              <a:srgbClr val="DDE4E7"/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xmlns="" id="{0ADA18C3-DF0E-4717-84EA-C5D439DC3128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7150" cy="1200150"/>
          </a:xfrm>
          <a:prstGeom prst="rect">
            <a:avLst/>
          </a:prstGeom>
          <a:solidFill>
            <a:srgbClr val="0E7490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xmlns="" id="{550AE949-FAF7-4098-AF35-861A3E2D4CD7}"/>
              </a:ext>
            </a:extLst>
          </p:cNvPr>
          <p:cNvSpPr>
            <a:spLocks noGrp="1"/>
          </p:cNvSpPr>
          <p:nvPr/>
        </p:nvSpPr>
        <p:spPr>
          <a:xfrm>
            <a:off x="6400800" y="2247900"/>
            <a:ext cx="43624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20000"/>
          </a:bodyPr>
          <a:lstStyle/>
          <a:p>
            <a:pPr algn="l">
              <a:defRPr sz="900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VBTLX · TOTAL BOND MARKET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xmlns="" id="{AF648B33-776A-439E-81AC-2E134B09804D}"/>
              </a:ext>
            </a:extLst>
          </p:cNvPr>
          <p:cNvSpPr>
            <a:spLocks noGrp="1"/>
          </p:cNvSpPr>
          <p:nvPr/>
        </p:nvSpPr>
        <p:spPr>
          <a:xfrm>
            <a:off x="6400800" y="2495550"/>
            <a:ext cx="4362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103"/>
          </a:bodyPr>
          <a:lstStyle/>
          <a:p>
            <a:pPr algn="l">
              <a:defRPr sz="21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67.85%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xmlns="" id="{7405B0E7-FBA0-4068-8643-F7D35371F638}"/>
              </a:ext>
            </a:extLst>
          </p:cNvPr>
          <p:cNvSpPr>
            <a:spLocks noGrp="1"/>
          </p:cNvSpPr>
          <p:nvPr/>
        </p:nvSpPr>
        <p:spPr>
          <a:xfrm>
            <a:off x="6400800" y="2933700"/>
            <a:ext cx="43624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$3,392,295 of the initial $5m</a:t>
            </a:r>
          </a:p>
        </p:txBody>
      </p:sp>
      <p:sp>
        <p:nvSpPr>
          <p:cNvPr id="11" name="Yuvarlatılmış Dikdörtgen 10">
            <a:extLst>
              <a:ext uri="{FF2B5EF4-FFF2-40B4-BE49-F238E27FC236}">
                <a16:creationId xmlns:a16="http://schemas.microsoft.com/office/drawing/2014/main" xmlns="" id="{E2C0833E-B8D8-4D82-B17E-152140A93AC9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4762500" cy="1200150"/>
          </a:xfrm>
          <a:prstGeom prst="roundRect">
            <a:avLst>
              <a:gd name="adj" fmla="val 6349"/>
            </a:avLst>
          </a:prstGeom>
          <a:solidFill>
            <a:srgbClr val="F4F7F8"/>
          </a:solidFill>
          <a:ln w="9525">
            <a:solidFill>
              <a:srgbClr val="DDE4E7"/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xmlns="" id="{19D4147E-D5F0-4DBC-A30D-9E6E2B539F2F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57150" cy="1200150"/>
          </a:xfrm>
          <a:prstGeom prst="rect">
            <a:avLst/>
          </a:prstGeom>
          <a:solidFill>
            <a:srgbClr val="E07A36"/>
          </a:solidFill>
          <a:ln w="9525">
            <a:solidFill>
              <a:srgbClr val="E07A36"/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xmlns="" id="{928FC0D3-BB59-413F-AB84-27CB1AAFF154}"/>
              </a:ext>
            </a:extLst>
          </p:cNvPr>
          <p:cNvSpPr>
            <a:spLocks noGrp="1"/>
          </p:cNvSpPr>
          <p:nvPr/>
        </p:nvSpPr>
        <p:spPr>
          <a:xfrm>
            <a:off x="6400800" y="3676650"/>
            <a:ext cx="43624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20000"/>
          </a:bodyPr>
          <a:lstStyle/>
          <a:p>
            <a:pPr algn="l">
              <a:defRPr sz="900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VFIAX · S&amp;P 500 INDEX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xmlns="" id="{F562CE4C-11CB-466D-B37D-AA6175B5B7F3}"/>
              </a:ext>
            </a:extLst>
          </p:cNvPr>
          <p:cNvSpPr>
            <a:spLocks noGrp="1"/>
          </p:cNvSpPr>
          <p:nvPr/>
        </p:nvSpPr>
        <p:spPr>
          <a:xfrm>
            <a:off x="6400800" y="3924300"/>
            <a:ext cx="4362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103"/>
          </a:bodyPr>
          <a:lstStyle/>
          <a:p>
            <a:pPr algn="l">
              <a:defRPr sz="21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32.15%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xmlns="" id="{076E9058-EE4E-4AED-AF3D-D00CBC3D85C0}"/>
              </a:ext>
            </a:extLst>
          </p:cNvPr>
          <p:cNvSpPr>
            <a:spLocks noGrp="1"/>
          </p:cNvSpPr>
          <p:nvPr/>
        </p:nvSpPr>
        <p:spPr>
          <a:xfrm>
            <a:off x="6400800" y="4362450"/>
            <a:ext cx="43624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$1,607,705 of the initial $5m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xmlns="" id="{B6FD6BD6-1687-4B8E-80F1-400B67679662}"/>
              </a:ext>
            </a:extLst>
          </p:cNvPr>
          <p:cNvSpPr>
            <a:spLocks noGrp="1"/>
          </p:cNvSpPr>
          <p:nvPr/>
        </p:nvSpPr>
        <p:spPr>
          <a:xfrm>
            <a:off x="6191250" y="5095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926" lnSpcReduction="20000"/>
          </a:bodyPr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Why this mix?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xmlns="" id="{B55AC581-C4CE-4051-9DF7-B2033CB54642}"/>
              </a:ext>
            </a:extLst>
          </p:cNvPr>
          <p:cNvSpPr>
            <a:spLocks noGrp="1"/>
          </p:cNvSpPr>
          <p:nvPr/>
        </p:nvSpPr>
        <p:spPr>
          <a:xfrm>
            <a:off x="6191250" y="539115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The allocation balances equity upside with bond-market stability and diversification.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xmlns="" id="{8BF86898-3DA6-4BCF-A9BF-4738A4DE11DC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9334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Source: course-provided monthly return files; calculations use adjusted returns.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xmlns="" id="{DF2EC5AF-39E6-4ED3-AF70-7E8CCFC24C2D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1576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xmlns="" id="{A3B3B575-9A42-4B1B-AF23-B7683567D40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2 · PERFORMANCE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xmlns="" id="{39B1B392-7C64-4465-923F-1A654BE33A0D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Diversification sharply reduced month-to-month swings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xmlns="" id="{50436365-A198-4A84-9ACF-98D35A5091DF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Monthly total return, January–July 2016.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xmlns="" id="{FA69C125-F94B-4590-81F8-0799AE56545A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DE4E7"/>
          </a:solidFill>
          <a:ln w="9525">
            <a:solidFill>
              <a:srgbClr val="DDE4E7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="590550" y="1762125"/>
          <a:ext cx="8096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Yuvarlatılmış Dikdörtgen 5">
            <a:extLst>
              <a:ext uri="{FF2B5EF4-FFF2-40B4-BE49-F238E27FC236}">
                <a16:creationId xmlns:a16="http://schemas.microsoft.com/office/drawing/2014/main" xmlns="" id="{70AF9DE7-31AD-4975-9CB6-96F88F0B4E61}"/>
              </a:ext>
            </a:extLst>
          </p:cNvPr>
          <p:cNvSpPr>
            <a:spLocks noGrp="1"/>
          </p:cNvSpPr>
          <p:nvPr/>
        </p:nvSpPr>
        <p:spPr>
          <a:xfrm>
            <a:off x="9001125" y="205740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F4F7F8"/>
          </a:solidFill>
          <a:ln w="9525">
            <a:solidFill>
              <a:srgbClr val="DDE4E7"/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xmlns="" id="{537BB8C7-B535-44D9-A38A-30135CFCE028}"/>
              </a:ext>
            </a:extLst>
          </p:cNvPr>
          <p:cNvSpPr>
            <a:spLocks noGrp="1"/>
          </p:cNvSpPr>
          <p:nvPr/>
        </p:nvSpPr>
        <p:spPr>
          <a:xfrm>
            <a:off x="9001125" y="2057400"/>
            <a:ext cx="57150" cy="1200150"/>
          </a:xfrm>
          <a:prstGeom prst="rect">
            <a:avLst/>
          </a:prstGeom>
          <a:solidFill>
            <a:srgbClr val="E07A36"/>
          </a:solidFill>
          <a:ln w="9525">
            <a:solidFill>
              <a:srgbClr val="E07A36"/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xmlns="" id="{5DF96F43-A4DB-48BD-B076-749DBC72E5E8}"/>
              </a:ext>
            </a:extLst>
          </p:cNvPr>
          <p:cNvSpPr>
            <a:spLocks noGrp="1"/>
          </p:cNvSpPr>
          <p:nvPr/>
        </p:nvSpPr>
        <p:spPr>
          <a:xfrm>
            <a:off x="9210675" y="2209800"/>
            <a:ext cx="2171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20000"/>
          </a:bodyPr>
          <a:lstStyle/>
          <a:p>
            <a:pPr algn="l">
              <a:defRPr sz="900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AAPL RANGE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xmlns="" id="{4A821341-3C3C-47CB-81CD-D4A5ECA32554}"/>
              </a:ext>
            </a:extLst>
          </p:cNvPr>
          <p:cNvSpPr>
            <a:spLocks noGrp="1"/>
          </p:cNvSpPr>
          <p:nvPr/>
        </p:nvSpPr>
        <p:spPr>
          <a:xfrm>
            <a:off x="9210675" y="2457450"/>
            <a:ext cx="21717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103"/>
          </a:bodyPr>
          <a:lstStyle/>
          <a:p>
            <a:pPr algn="l">
              <a:defRPr sz="21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26.7 pts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xmlns="" id="{80C89BD1-F1BB-4CBD-8756-1D77C9BC9E06}"/>
              </a:ext>
            </a:extLst>
          </p:cNvPr>
          <p:cNvSpPr>
            <a:spLocks noGrp="1"/>
          </p:cNvSpPr>
          <p:nvPr/>
        </p:nvSpPr>
        <p:spPr>
          <a:xfrm>
            <a:off x="9210675" y="2895600"/>
            <a:ext cx="21717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+12.7% to −14.0%</a:t>
            </a:r>
          </a:p>
        </p:txBody>
      </p:sp>
      <p:sp>
        <p:nvSpPr>
          <p:cNvPr id="11" name="Yuvarlatılmış Dikdörtgen 10">
            <a:extLst>
              <a:ext uri="{FF2B5EF4-FFF2-40B4-BE49-F238E27FC236}">
                <a16:creationId xmlns:a16="http://schemas.microsoft.com/office/drawing/2014/main" xmlns="" id="{2BA2F89B-AFD4-48C6-9AEE-539319F665E4}"/>
              </a:ext>
            </a:extLst>
          </p:cNvPr>
          <p:cNvSpPr>
            <a:spLocks noGrp="1"/>
          </p:cNvSpPr>
          <p:nvPr/>
        </p:nvSpPr>
        <p:spPr>
          <a:xfrm>
            <a:off x="9001125" y="352425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F4F7F8"/>
          </a:solidFill>
          <a:ln w="9525">
            <a:solidFill>
              <a:srgbClr val="DDE4E7"/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xmlns="" id="{928E95CA-CEDC-452D-8181-527BA2A6926A}"/>
              </a:ext>
            </a:extLst>
          </p:cNvPr>
          <p:cNvSpPr>
            <a:spLocks noGrp="1"/>
          </p:cNvSpPr>
          <p:nvPr/>
        </p:nvSpPr>
        <p:spPr>
          <a:xfrm>
            <a:off x="9001125" y="3524250"/>
            <a:ext cx="57150" cy="1200150"/>
          </a:xfrm>
          <a:prstGeom prst="rect">
            <a:avLst/>
          </a:prstGeom>
          <a:solidFill>
            <a:srgbClr val="0E7490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xmlns="" id="{47618737-923B-48CB-8748-E3C3B2C04D79}"/>
              </a:ext>
            </a:extLst>
          </p:cNvPr>
          <p:cNvSpPr>
            <a:spLocks noGrp="1"/>
          </p:cNvSpPr>
          <p:nvPr/>
        </p:nvSpPr>
        <p:spPr>
          <a:xfrm>
            <a:off x="9210675" y="3676650"/>
            <a:ext cx="2171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20000"/>
          </a:bodyPr>
          <a:lstStyle/>
          <a:p>
            <a:pPr algn="l">
              <a:defRPr sz="900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MIXED RANGE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xmlns="" id="{1C039ECB-8E53-40F8-A6F2-D3806D42DDE8}"/>
              </a:ext>
            </a:extLst>
          </p:cNvPr>
          <p:cNvSpPr>
            <a:spLocks noGrp="1"/>
          </p:cNvSpPr>
          <p:nvPr/>
        </p:nvSpPr>
        <p:spPr>
          <a:xfrm>
            <a:off x="9210675" y="3924300"/>
            <a:ext cx="21717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103"/>
          </a:bodyPr>
          <a:lstStyle/>
          <a:p>
            <a:pPr algn="l">
              <a:defRPr sz="21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3.4 pts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xmlns="" id="{0AF9A2F6-D97B-481E-ADF6-E92FA0BDE937}"/>
              </a:ext>
            </a:extLst>
          </p:cNvPr>
          <p:cNvSpPr>
            <a:spLocks noGrp="1"/>
          </p:cNvSpPr>
          <p:nvPr/>
        </p:nvSpPr>
        <p:spPr>
          <a:xfrm>
            <a:off x="9210675" y="4362450"/>
            <a:ext cx="21717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+2.8% to −0.6%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xmlns="" id="{5DE769CE-533D-436C-AC83-F363B3EC43FA}"/>
              </a:ext>
            </a:extLst>
          </p:cNvPr>
          <p:cNvSpPr>
            <a:spLocks noGrp="1"/>
          </p:cNvSpPr>
          <p:nvPr/>
        </p:nvSpPr>
        <p:spPr>
          <a:xfrm>
            <a:off x="9048750" y="5105400"/>
            <a:ext cx="2428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79" lnSpcReduction="10000"/>
          </a:bodyPr>
          <a:lstStyle/>
          <a:p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mixed portfolio was positive in six of seven months.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xmlns="" id="{8D7F1676-B47C-4230-BBD2-269922C86F91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9334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Source: course-provided monthly return files; calculations use adjusted returns.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xmlns="" id="{12B3A089-C964-486A-B113-546FA455AD76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6826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kdörtgen 22">
            <a:extLst>
              <a:ext uri="{FF2B5EF4-FFF2-40B4-BE49-F238E27FC236}">
                <a16:creationId xmlns:a16="http://schemas.microsoft.com/office/drawing/2014/main" xmlns="" id="{5D2DFDB7-8786-44C4-B168-773E945541F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3 · RISK–RETURN TRADE-OFF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xmlns="" id="{4DC05AE5-9343-4BCA-A2A3-F6988605DE2C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AAPL finished higher, but the path was substantially riskier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xmlns="" id="{F8FFA374-C717-4F82-B392-B8E45AF74269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Growth of a hypothetical $5 million investment; monthly rebalancing weights held constant.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xmlns="" id="{ECAD9E34-C43F-4D0C-AEFB-1E0EC3B894EE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DE4E7"/>
          </a:solidFill>
          <a:ln w="9525">
            <a:solidFill>
              <a:srgbClr val="DDE4E7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="571500" y="1809750"/>
          <a:ext cx="7239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Yuvarlatılmış Dikdörtgen 5">
            <a:extLst>
              <a:ext uri="{FF2B5EF4-FFF2-40B4-BE49-F238E27FC236}">
                <a16:creationId xmlns:a16="http://schemas.microsoft.com/office/drawing/2014/main" xmlns="" id="{DB360882-A190-43C6-9E63-5E3BAFE7BE1A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F4F7F8"/>
          </a:solidFill>
          <a:ln w="9525">
            <a:solidFill>
              <a:srgbClr val="DDE4E7"/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xmlns="" id="{F8F0BA7C-7DB1-4479-9853-0C73AF30B07E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57150" cy="1200150"/>
          </a:xfrm>
          <a:prstGeom prst="rect">
            <a:avLst/>
          </a:prstGeom>
          <a:solidFill>
            <a:srgbClr val="153A5B"/>
          </a:solidFill>
          <a:ln w="9525">
            <a:solidFill>
              <a:srgbClr val="153A5B"/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xmlns="" id="{91B45FFB-0E96-4AF6-925E-DB790E133DE2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8384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20000"/>
          </a:bodyPr>
          <a:lstStyle/>
          <a:p>
            <a:pPr algn="l">
              <a:defRPr sz="900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CUMULATIVE RETURN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xmlns="" id="{FE55A299-49C8-46D1-AB41-02098A704AB3}"/>
              </a:ext>
            </a:extLst>
          </p:cNvPr>
          <p:cNvSpPr>
            <a:spLocks noGrp="1"/>
          </p:cNvSpPr>
          <p:nvPr/>
        </p:nvSpPr>
        <p:spPr>
          <a:xfrm>
            <a:off x="8496300" y="2324100"/>
            <a:ext cx="2838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103"/>
          </a:bodyPr>
          <a:lstStyle/>
          <a:p>
            <a:pPr algn="l">
              <a:defRPr sz="21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+6.77% vs +10.21%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xmlns="" id="{80B2605E-274F-4878-B91B-DD46E4CFB081}"/>
              </a:ext>
            </a:extLst>
          </p:cNvPr>
          <p:cNvSpPr>
            <a:spLocks noGrp="1"/>
          </p:cNvSpPr>
          <p:nvPr/>
        </p:nvSpPr>
        <p:spPr>
          <a:xfrm>
            <a:off x="8496300" y="2762250"/>
            <a:ext cx="28384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4707D"/>
                </a:solidFill>
                <a:latin typeface="Aptos"/>
                <a:ea typeface="Aptos"/>
                <a:cs typeface="Aptos"/>
              </a:rPr>
              <a:t>Mixed portfolio vs AAPL</a:t>
            </a:r>
          </a:p>
        </p:txBody>
      </p:sp>
      <p:sp>
        <p:nvSpPr>
          <p:cNvPr id="11" name="Yuvarlatılmış Dikdörtgen 10">
            <a:extLst>
              <a:ext uri="{FF2B5EF4-FFF2-40B4-BE49-F238E27FC236}">
                <a16:creationId xmlns:a16="http://schemas.microsoft.com/office/drawing/2014/main" xmlns="" id="{59DEFA95-A221-431C-AD78-25A50EDB55B6}"/>
              </a:ext>
            </a:extLst>
          </p:cNvPr>
          <p:cNvSpPr>
            <a:spLocks noGrp="1"/>
          </p:cNvSpPr>
          <p:nvPr/>
        </p:nvSpPr>
        <p:spPr>
          <a:xfrm>
            <a:off x="8286750" y="333375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F4F7F8"/>
          </a:solidFill>
          <a:ln w="9525">
            <a:solidFill>
              <a:srgbClr val="DDE4E7"/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xmlns="" id="{9B8EC102-6B82-4DAD-BA21-A6541542ED6D}"/>
              </a:ext>
            </a:extLst>
          </p:cNvPr>
          <p:cNvSpPr>
            <a:spLocks noGrp="1"/>
          </p:cNvSpPr>
          <p:nvPr/>
        </p:nvSpPr>
        <p:spPr>
          <a:xfrm>
            <a:off x="8286750" y="3333750"/>
            <a:ext cx="57150" cy="1200150"/>
          </a:xfrm>
          <a:prstGeom prst="rect">
            <a:avLst/>
          </a:prstGeom>
          <a:solidFill>
            <a:srgbClr val="C9514E"/>
          </a:solidFill>
          <a:ln w="9525">
            <a:solidFill>
              <a:srgbClr val="C9514E"/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xmlns="" id="{B558C72E-B942-4DEB-9737-A40B2D305B73}"/>
              </a:ext>
            </a:extLst>
          </p:cNvPr>
          <p:cNvSpPr>
            <a:spLocks noGrp="1"/>
          </p:cNvSpPr>
          <p:nvPr/>
        </p:nvSpPr>
        <p:spPr>
          <a:xfrm>
            <a:off x="8496300" y="3486150"/>
            <a:ext cx="28384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20000"/>
          </a:bodyPr>
          <a:lstStyle/>
          <a:p>
            <a:pPr algn="l">
              <a:defRPr sz="900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MONTHLY VOLATILITY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xmlns="" id="{F9B56A3A-E85E-4CC3-9BFD-10E8640530ED}"/>
              </a:ext>
            </a:extLst>
          </p:cNvPr>
          <p:cNvSpPr>
            <a:spLocks noGrp="1"/>
          </p:cNvSpPr>
          <p:nvPr/>
        </p:nvSpPr>
        <p:spPr>
          <a:xfrm>
            <a:off x="8496300" y="3733800"/>
            <a:ext cx="2838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103"/>
          </a:bodyPr>
          <a:lstStyle/>
          <a:p>
            <a:pPr algn="l">
              <a:defRPr sz="21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1.11% vs 9.04%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xmlns="" id="{AE343745-3D91-4DD9-8B95-D79DCDE62504}"/>
              </a:ext>
            </a:extLst>
          </p:cNvPr>
          <p:cNvSpPr>
            <a:spLocks noGrp="1"/>
          </p:cNvSpPr>
          <p:nvPr/>
        </p:nvSpPr>
        <p:spPr>
          <a:xfrm>
            <a:off x="8496300" y="4171950"/>
            <a:ext cx="28384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AAPL was 8.15× more volatile</a:t>
            </a:r>
          </a:p>
        </p:txBody>
      </p:sp>
      <p:sp>
        <p:nvSpPr>
          <p:cNvPr id="16" name="Yuvarlatılmış Dikdörtgen 15">
            <a:extLst>
              <a:ext uri="{FF2B5EF4-FFF2-40B4-BE49-F238E27FC236}">
                <a16:creationId xmlns:a16="http://schemas.microsoft.com/office/drawing/2014/main" xmlns="" id="{DAC27590-5911-4731-9050-700BC9979DB6}"/>
              </a:ext>
            </a:extLst>
          </p:cNvPr>
          <p:cNvSpPr>
            <a:spLocks noGrp="1"/>
          </p:cNvSpPr>
          <p:nvPr/>
        </p:nvSpPr>
        <p:spPr>
          <a:xfrm>
            <a:off x="8286750" y="474345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F4F7F8"/>
          </a:solidFill>
          <a:ln w="9525">
            <a:solidFill>
              <a:srgbClr val="DDE4E7"/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xmlns="" id="{FA54C6E1-476B-462B-A3DC-CD6DCD6898C1}"/>
              </a:ext>
            </a:extLst>
          </p:cNvPr>
          <p:cNvSpPr>
            <a:spLocks noGrp="1"/>
          </p:cNvSpPr>
          <p:nvPr/>
        </p:nvSpPr>
        <p:spPr>
          <a:xfrm>
            <a:off x="8286750" y="4743450"/>
            <a:ext cx="57150" cy="1200150"/>
          </a:xfrm>
          <a:prstGeom prst="rect">
            <a:avLst/>
          </a:prstGeom>
          <a:solidFill>
            <a:srgbClr val="2E8B73"/>
          </a:solidFill>
          <a:ln w="9525">
            <a:solidFill>
              <a:srgbClr val="2E8B73"/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xmlns="" id="{4151D7DA-9FA2-418F-B98B-B61974D7BD3C}"/>
              </a:ext>
            </a:extLst>
          </p:cNvPr>
          <p:cNvSpPr>
            <a:spLocks noGrp="1"/>
          </p:cNvSpPr>
          <p:nvPr/>
        </p:nvSpPr>
        <p:spPr>
          <a:xfrm>
            <a:off x="8496300" y="4895850"/>
            <a:ext cx="28384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20000"/>
          </a:bodyPr>
          <a:lstStyle/>
          <a:p>
            <a:pPr algn="l">
              <a:defRPr sz="900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WORST MONTH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xmlns="" id="{A9E7337C-6D58-47D7-8C76-27BD0DCCF509}"/>
              </a:ext>
            </a:extLst>
          </p:cNvPr>
          <p:cNvSpPr>
            <a:spLocks noGrp="1"/>
          </p:cNvSpPr>
          <p:nvPr/>
        </p:nvSpPr>
        <p:spPr>
          <a:xfrm>
            <a:off x="8496300" y="5143500"/>
            <a:ext cx="2838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103"/>
          </a:bodyPr>
          <a:lstStyle/>
          <a:p>
            <a:pPr algn="l">
              <a:defRPr sz="21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−0.62% vs −13.99%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xmlns="" id="{26C4981B-0133-43A7-BDE8-1BF4986E97C0}"/>
              </a:ext>
            </a:extLst>
          </p:cNvPr>
          <p:cNvSpPr>
            <a:spLocks noGrp="1"/>
          </p:cNvSpPr>
          <p:nvPr/>
        </p:nvSpPr>
        <p:spPr>
          <a:xfrm>
            <a:off x="8496300" y="5581650"/>
            <a:ext cx="28384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Mixed portfolio vs AAPL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xmlns="" id="{B35F25C7-A52B-4E93-90BE-BD37FCCA9B2D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9334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Source: course-provided monthly return files; calculations use adjusted returns.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xmlns="" id="{93DE3842-A92D-4D7A-BC0A-9AA64DE5414D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9859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ikdörtgen 11">
            <a:extLst>
              <a:ext uri="{FF2B5EF4-FFF2-40B4-BE49-F238E27FC236}">
                <a16:creationId xmlns:a16="http://schemas.microsoft.com/office/drawing/2014/main" xmlns="" id="{9D79D926-F814-4A8C-8BA2-815C64C8A1FA}"/>
              </a:ext>
            </a:extLst>
          </p:cNvPr>
          <p:cNvSpPr>
            <a:spLocks noGrp="1"/>
          </p:cNvSpPr>
          <p:nvPr/>
        </p:nvSpPr>
        <p:spPr>
          <a:xfrm>
            <a:off x="647700" y="4762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53A6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A6B8"/>
                </a:solidFill>
                <a:latin typeface="Aptos"/>
                <a:ea typeface="Aptos"/>
                <a:cs typeface="Aptos"/>
              </a:rPr>
              <a:t>CLIENT RECOMMENDATION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xmlns="" id="{8D27BCB3-7076-42EC-9DE5-ECC9206D0632}"/>
              </a:ext>
            </a:extLst>
          </p:cNvPr>
          <p:cNvSpPr>
            <a:spLocks noGrp="1"/>
          </p:cNvSpPr>
          <p:nvPr/>
        </p:nvSpPr>
        <p:spPr>
          <a:xfrm>
            <a:off x="647700" y="904875"/>
            <a:ext cx="104775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962"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the allocation that matches the client's capacity for loss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xmlns="" id="{56C75ECF-F8B4-4338-B2D1-D5F748436CB2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10896600" cy="19050"/>
          </a:xfrm>
          <a:prstGeom prst="rect">
            <a:avLst/>
          </a:prstGeom>
          <a:solidFill>
            <a:srgbClr val="53A6B8"/>
          </a:solidFill>
          <a:ln w="9525">
            <a:solidFill>
              <a:srgbClr val="53A6B8"/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xmlns="" id="{A3A9EAFE-D2D2-4FC3-8A2D-971213D7B9F4}"/>
              </a:ext>
            </a:extLst>
          </p:cNvPr>
          <p:cNvSpPr>
            <a:spLocks noGrp="1"/>
          </p:cNvSpPr>
          <p:nvPr/>
        </p:nvSpPr>
        <p:spPr>
          <a:xfrm>
            <a:off x="647700" y="22383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10000"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the evidence shows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xmlns="" id="{08DF3546-4C6C-4C80-B775-286D11EDA518}"/>
              </a:ext>
            </a:extLst>
          </p:cNvPr>
          <p:cNvSpPr>
            <a:spLocks noGrp="1"/>
          </p:cNvSpPr>
          <p:nvPr/>
        </p:nvSpPr>
        <p:spPr>
          <a:xfrm>
            <a:off x="647700" y="2686050"/>
            <a:ext cx="5048250" cy="2143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E8F0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F0F4"/>
                </a:solidFill>
                <a:latin typeface="Aptos"/>
                <a:ea typeface="Aptos"/>
                <a:cs typeface="Aptos"/>
              </a:rPr>
              <a:t>1  AAPL produced the higher seven-month return.</a:t>
            </a:r>
          </a:p>
          <a:p>
            <a:endParaRPr sz="1425" b="0">
              <a:solidFill>
                <a:srgbClr val="E8F0F4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>
                <a:solidFill>
                  <a:srgbClr val="E8F0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F0F4"/>
                </a:solidFill>
                <a:latin typeface="Aptos"/>
                <a:ea typeface="Aptos"/>
                <a:cs typeface="Aptos"/>
              </a:rPr>
              <a:t>2  The mixed portfolio cut monthly volatility by about 88%.</a:t>
            </a:r>
          </a:p>
          <a:p>
            <a:endParaRPr sz="1425" b="0">
              <a:solidFill>
                <a:srgbClr val="E8F0F4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>
                <a:solidFill>
                  <a:srgbClr val="E8F0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F0F4"/>
                </a:solidFill>
                <a:latin typeface="Aptos"/>
                <a:ea typeface="Aptos"/>
                <a:cs typeface="Aptos"/>
              </a:rPr>
              <a:t>3  Its worst month was limited to −0.62%, versus −13.99% for AAPL.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xmlns="" id="{6B3B2532-EBC2-48C9-8754-501701054BA7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10000"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Recommended action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xmlns="" id="{041D580B-0C6A-4FF8-89CE-262CDD5CA72B}"/>
              </a:ext>
            </a:extLst>
          </p:cNvPr>
          <p:cNvSpPr>
            <a:spLocks noGrp="1"/>
          </p:cNvSpPr>
          <p:nvPr/>
        </p:nvSpPr>
        <p:spPr>
          <a:xfrm>
            <a:off x="6477000" y="2686050"/>
            <a:ext cx="447675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diversified VBTLX/VFIAX mix for clients who prioritize capital stability and smoother outcomes. Increase VFIAX only when risk tolerance and investment horizon support it.</a:t>
            </a:r>
          </a:p>
        </p:txBody>
      </p:sp>
      <p:sp>
        <p:nvSpPr>
          <p:cNvPr id="8" name="Yuvarlatılmış Dikdörtgen 7">
            <a:extLst>
              <a:ext uri="{FF2B5EF4-FFF2-40B4-BE49-F238E27FC236}">
                <a16:creationId xmlns:a16="http://schemas.microsoft.com/office/drawing/2014/main" xmlns="" id="{F58765F7-D6A4-4CEA-B4AF-8ACEC4E9A7A6}"/>
              </a:ext>
            </a:extLst>
          </p:cNvPr>
          <p:cNvSpPr>
            <a:spLocks noGrp="1"/>
          </p:cNvSpPr>
          <p:nvPr/>
        </p:nvSpPr>
        <p:spPr>
          <a:xfrm>
            <a:off x="6477000" y="4495800"/>
            <a:ext cx="4476750" cy="857250"/>
          </a:xfrm>
          <a:prstGeom prst="roundRect">
            <a:avLst>
              <a:gd name="adj" fmla="val 8889"/>
            </a:avLst>
          </a:prstGeom>
          <a:solidFill>
            <a:srgbClr val="244F70"/>
          </a:solidFill>
          <a:ln w="9525">
            <a:solidFill>
              <a:srgbClr val="3D6C8E"/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xmlns="" id="{66933D0D-4B12-4A86-8D1D-D81996C36D72}"/>
              </a:ext>
            </a:extLst>
          </p:cNvPr>
          <p:cNvSpPr>
            <a:spLocks noGrp="1"/>
          </p:cNvSpPr>
          <p:nvPr/>
        </p:nvSpPr>
        <p:spPr>
          <a:xfrm>
            <a:off x="6705600" y="4667250"/>
            <a:ext cx="40195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DCEA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AF2"/>
                </a:solidFill>
                <a:latin typeface="Aptos"/>
                <a:ea typeface="Aptos"/>
                <a:cs typeface="Aptos"/>
              </a:rPr>
              <a:t>Monitor correlations, rebalance periodically, and stress-test the mix before changing strategic weights.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xmlns="" id="{3B30D9FE-F336-43BD-AE60-AF08B66677D6}"/>
              </a:ext>
            </a:extLst>
          </p:cNvPr>
          <p:cNvSpPr>
            <a:spLocks noGrp="1"/>
          </p:cNvSpPr>
          <p:nvPr/>
        </p:nvSpPr>
        <p:spPr>
          <a:xfrm>
            <a:off x="647700" y="6191250"/>
            <a:ext cx="9810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808" lnSpcReduction="10000"/>
          </a:bodyPr>
          <a:lstStyle/>
          <a:p>
            <a:pPr algn="l">
              <a:defRPr sz="975" b="0">
                <a:solidFill>
                  <a:srgbClr val="B9CBD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BD7"/>
                </a:solidFill>
                <a:latin typeface="Aptos"/>
                <a:ea typeface="Aptos"/>
                <a:cs typeface="Aptos"/>
              </a:rPr>
              <a:t>Important: this seven-month comparison is historical and does not guarantee future performance.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xmlns="" id="{7E67123E-6D59-4168-BA83-D5CD3D513349}"/>
              </a:ext>
            </a:extLst>
          </p:cNvPr>
          <p:cNvSpPr>
            <a:spLocks noGrp="1"/>
          </p:cNvSpPr>
          <p:nvPr/>
        </p:nvSpPr>
        <p:spPr>
          <a:xfrm>
            <a:off x="11096625" y="6191250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 algn="r">
              <a:defRPr sz="825" b="1">
                <a:solidFill>
                  <a:srgbClr val="B9CBD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CBD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24837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kış">
  <a:themeElements>
    <a:clrScheme name="Akış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kış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kış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582</Words>
  <Application>Microsoft Office PowerPoint</Application>
  <DocSecurity>0</DocSecurity>
  <PresentationFormat>Özel</PresentationFormat>
  <Paragraphs>67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2" baseType="lpstr">
      <vt:lpstr>Arial</vt:lpstr>
      <vt:lpstr>Helvetica Neue</vt:lpstr>
      <vt:lpstr>Aptos</vt:lpstr>
      <vt:lpstr>Calibri</vt:lpstr>
      <vt:lpstr>Constantia</vt:lpstr>
      <vt:lpstr>Wingdings 2</vt:lpstr>
      <vt:lpstr>Akış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w10</cp:lastModifiedBy>
  <cp:revision>1</cp:revision>
  <dcterms:created xsi:type="dcterms:W3CDTF">2026-09-14T14:38:01Z</dcterms:created>
  <dcterms:modified xsi:type="dcterms:W3CDTF">2026-09-14T15:12:24Z</dcterms:modified>
</cp:coreProperties>
</file>